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95" d="100"/>
          <a:sy n="95" d="100"/>
        </p:scale>
        <p:origin x="67"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B9F7F-5CCD-4784-8912-5BE2CC2D7FFD}" type="datetimeFigureOut">
              <a:rPr lang="fr-FR" smtClean="0"/>
              <a:t>14/04/2026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AE3D90-7993-4401-AD85-78DB5A669F25}" type="slidenum">
              <a:rPr lang="fr-FR" smtClean="0"/>
              <a:t>‹N°›</a:t>
            </a:fld>
            <a:endParaRPr lang="fr-FR"/>
          </a:p>
        </p:txBody>
      </p:sp>
    </p:spTree>
    <p:extLst>
      <p:ext uri="{BB962C8B-B14F-4D97-AF65-F5344CB8AC3E}">
        <p14:creationId xmlns:p14="http://schemas.microsoft.com/office/powerpoint/2010/main" val="873802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1AE3D90-7993-4401-AD85-78DB5A669F25}" type="slidenum">
              <a:rPr lang="fr-FR" smtClean="0"/>
              <a:t>3</a:t>
            </a:fld>
            <a:endParaRPr lang="fr-FR"/>
          </a:p>
        </p:txBody>
      </p:sp>
    </p:spTree>
    <p:extLst>
      <p:ext uri="{BB962C8B-B14F-4D97-AF65-F5344CB8AC3E}">
        <p14:creationId xmlns:p14="http://schemas.microsoft.com/office/powerpoint/2010/main" val="3831460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4EFAA0-5CFD-DEFA-28E8-90F94D87521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8721E86-D6C5-5130-28CC-4C7F126890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83CF1D8-3BD9-407F-139D-08EC9324A8A2}"/>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5" name="Espace réservé du pied de page 4">
            <a:extLst>
              <a:ext uri="{FF2B5EF4-FFF2-40B4-BE49-F238E27FC236}">
                <a16:creationId xmlns:a16="http://schemas.microsoft.com/office/drawing/2014/main" id="{6FC3EB34-C211-0BD2-7B52-65019EE0471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205F60-92DD-6ADC-FA5A-F36BC4CA7908}"/>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1647171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D8D358-B3B0-E09F-26D4-CAF2F1B2EAE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A5B677A-A6BF-8693-9289-8A18C11CC2E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ADC14E2-A22A-BB6D-28B8-7B263CC1230B}"/>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5" name="Espace réservé du pied de page 4">
            <a:extLst>
              <a:ext uri="{FF2B5EF4-FFF2-40B4-BE49-F238E27FC236}">
                <a16:creationId xmlns:a16="http://schemas.microsoft.com/office/drawing/2014/main" id="{6EB4DE33-B911-8F1F-D945-C8B032DC0B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F10F591-AF92-9E14-C7C7-AAD0370EA371}"/>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1628903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1DDB9-96E8-2A1E-298D-06630B4F653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BD6FDD2-3E3B-6C18-9F4C-ED0DE1DA54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F45C9DD-AF93-89B8-026F-EF142EA7ACEE}"/>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5" name="Espace réservé du pied de page 4">
            <a:extLst>
              <a:ext uri="{FF2B5EF4-FFF2-40B4-BE49-F238E27FC236}">
                <a16:creationId xmlns:a16="http://schemas.microsoft.com/office/drawing/2014/main" id="{21BCE735-A233-2E1E-A1F5-A4F673F3F5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94CADD-5C9F-B9E2-6E4E-D32E670F0377}"/>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2631745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A7D790-B49A-0FDA-294A-9DC6281BFF4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5E996F4-E467-5090-F38D-92A96C517B9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7124345-90DD-F274-64E0-8620B4DC9B7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849ED2B-B5FD-A0F4-584F-AB4A9ED23DE9}"/>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6" name="Espace réservé du pied de page 5">
            <a:extLst>
              <a:ext uri="{FF2B5EF4-FFF2-40B4-BE49-F238E27FC236}">
                <a16:creationId xmlns:a16="http://schemas.microsoft.com/office/drawing/2014/main" id="{9465BE26-4ADE-CA67-4AAA-6436023D32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7328997-5065-16ED-8CE5-FD27BADA803D}"/>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3211277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7D67D4-7FF6-FACD-EBA8-5CB8E1C153B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BCCDDCE-39A5-8311-5E0E-F3438F261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0E1A4EB-38F4-3F56-22C3-CB3886E037E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3227097-D81C-A5FC-4AEC-04093B12EF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720F11F-2E9B-A7D9-86D4-901CB396045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ADEE8F1-E179-6EFC-EED5-A2E9D1AC36E6}"/>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8" name="Espace réservé du pied de page 7">
            <a:extLst>
              <a:ext uri="{FF2B5EF4-FFF2-40B4-BE49-F238E27FC236}">
                <a16:creationId xmlns:a16="http://schemas.microsoft.com/office/drawing/2014/main" id="{BA6F58C4-7500-4F68-C152-5D3C4A1A2CF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256A951-8D33-3C40-F8FA-87023E9AB46D}"/>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1022416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8C0F04-F797-3665-3F96-54E95E6835F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5BD3A23-9A49-D782-C29A-36180C917C95}"/>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4" name="Espace réservé du pied de page 3">
            <a:extLst>
              <a:ext uri="{FF2B5EF4-FFF2-40B4-BE49-F238E27FC236}">
                <a16:creationId xmlns:a16="http://schemas.microsoft.com/office/drawing/2014/main" id="{C324F0FA-3762-9257-7215-BF15083426B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410B246-864B-C182-7B77-BDEFC3608A16}"/>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2701818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BF8FC2F-016F-9BEC-1230-22F378728305}"/>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3" name="Espace réservé du pied de page 2">
            <a:extLst>
              <a:ext uri="{FF2B5EF4-FFF2-40B4-BE49-F238E27FC236}">
                <a16:creationId xmlns:a16="http://schemas.microsoft.com/office/drawing/2014/main" id="{52D55FE0-4171-B1A0-C13E-BF8CC6267B5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03BC5AF-4D4A-AE48-E545-145FCFF8E0E0}"/>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3924003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DCF368-A80B-C377-8AF6-10EC8259552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0E1AA1E-1A02-7C93-14A5-B46808FDB3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79786F9-7C5E-C03E-EA6B-13F736081C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39434B1-B340-5D85-E8F9-5E4872477C5A}"/>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6" name="Espace réservé du pied de page 5">
            <a:extLst>
              <a:ext uri="{FF2B5EF4-FFF2-40B4-BE49-F238E27FC236}">
                <a16:creationId xmlns:a16="http://schemas.microsoft.com/office/drawing/2014/main" id="{B79DF6E8-933B-714B-78D5-E231B81DB2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30A409A-0F11-71C4-2C8B-02EA0F72A772}"/>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3492665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C5C976-95F4-B8FD-7F3F-44AE82A59FA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29E3AE4-C54C-8340-CC88-3210C4A74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FA44B68-3904-D49F-2CE3-2E1EA7834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9C6EDD-98DC-9C61-EC62-9068A1504A58}"/>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6" name="Espace réservé du pied de page 5">
            <a:extLst>
              <a:ext uri="{FF2B5EF4-FFF2-40B4-BE49-F238E27FC236}">
                <a16:creationId xmlns:a16="http://schemas.microsoft.com/office/drawing/2014/main" id="{AE8C1FA4-C85D-C0FD-58C9-DC229BD21B5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61B098E-61BE-48BE-4F29-203D15334907}"/>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14556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38D77B-B6D8-ECBD-1A4E-C2CEDD72F5B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1049E14-287D-8821-EFEB-7B0A1DC3FB1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C24BB87-7512-702D-E174-739160F5C484}"/>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5" name="Espace réservé du pied de page 4">
            <a:extLst>
              <a:ext uri="{FF2B5EF4-FFF2-40B4-BE49-F238E27FC236}">
                <a16:creationId xmlns:a16="http://schemas.microsoft.com/office/drawing/2014/main" id="{C72D470E-9A09-3975-A05F-971E696FC11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A1F7CC3-81DF-5E12-1EA0-B1758CDD6209}"/>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2573170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FCC18A3-D927-25E7-3746-566E7F55ABA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F292AE1-58F9-88D1-B570-EEC11843CC2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31F3B87-766B-49FB-341A-53E723AF81CC}"/>
              </a:ext>
            </a:extLst>
          </p:cNvPr>
          <p:cNvSpPr>
            <a:spLocks noGrp="1"/>
          </p:cNvSpPr>
          <p:nvPr>
            <p:ph type="dt" sz="half" idx="10"/>
          </p:nvPr>
        </p:nvSpPr>
        <p:spPr/>
        <p:txBody>
          <a:bodyPr/>
          <a:lstStyle/>
          <a:p>
            <a:fld id="{A80E2F30-5567-48D3-84A0-559F4DF9EBF1}" type="datetimeFigureOut">
              <a:rPr lang="fr-FR" smtClean="0"/>
              <a:t>14/04/2026</a:t>
            </a:fld>
            <a:endParaRPr lang="fr-FR"/>
          </a:p>
        </p:txBody>
      </p:sp>
      <p:sp>
        <p:nvSpPr>
          <p:cNvPr id="5" name="Espace réservé du pied de page 4">
            <a:extLst>
              <a:ext uri="{FF2B5EF4-FFF2-40B4-BE49-F238E27FC236}">
                <a16:creationId xmlns:a16="http://schemas.microsoft.com/office/drawing/2014/main" id="{68B20E33-8E4C-F505-7CEB-AD3F49CD8BD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D174554-4109-B5F9-1BB4-6D8D5783F82C}"/>
              </a:ext>
            </a:extLst>
          </p:cNvPr>
          <p:cNvSpPr>
            <a:spLocks noGrp="1"/>
          </p:cNvSpPr>
          <p:nvPr>
            <p:ph type="sldNum" sz="quarter" idx="12"/>
          </p:nvPr>
        </p:nvSpPr>
        <p:spPr/>
        <p:txBody>
          <a:bodyPr/>
          <a:lstStyle/>
          <a:p>
            <a:fld id="{458E5E38-496A-4C44-9F9E-A222A0D7DE29}" type="slidenum">
              <a:rPr lang="fr-FR" smtClean="0"/>
              <a:t>‹N°›</a:t>
            </a:fld>
            <a:endParaRPr lang="fr-FR"/>
          </a:p>
        </p:txBody>
      </p:sp>
    </p:spTree>
    <p:extLst>
      <p:ext uri="{BB962C8B-B14F-4D97-AF65-F5344CB8AC3E}">
        <p14:creationId xmlns:p14="http://schemas.microsoft.com/office/powerpoint/2010/main" val="2931707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D28DC65-43CD-B6AA-27B8-BE23F7469B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169F4AF-6FE4-B69D-993C-7AF77223F4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7E16246-3F2D-C955-B78E-FF0F41E431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0E2F30-5567-48D3-84A0-559F4DF9EBF1}" type="datetimeFigureOut">
              <a:rPr lang="fr-FR" smtClean="0"/>
              <a:t>14/04/2026</a:t>
            </a:fld>
            <a:endParaRPr lang="fr-FR"/>
          </a:p>
        </p:txBody>
      </p:sp>
      <p:sp>
        <p:nvSpPr>
          <p:cNvPr id="5" name="Espace réservé du pied de page 4">
            <a:extLst>
              <a:ext uri="{FF2B5EF4-FFF2-40B4-BE49-F238E27FC236}">
                <a16:creationId xmlns:a16="http://schemas.microsoft.com/office/drawing/2014/main" id="{921218F5-0F5C-6FE1-A95A-C05318AE89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1A6F723-DDC5-919D-AE05-AB82468673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8E5E38-496A-4C44-9F9E-A222A0D7DE29}" type="slidenum">
              <a:rPr lang="fr-FR" smtClean="0"/>
              <a:t>‹N°›</a:t>
            </a:fld>
            <a:endParaRPr lang="fr-FR"/>
          </a:p>
        </p:txBody>
      </p:sp>
    </p:spTree>
    <p:extLst>
      <p:ext uri="{BB962C8B-B14F-4D97-AF65-F5344CB8AC3E}">
        <p14:creationId xmlns:p14="http://schemas.microsoft.com/office/powerpoint/2010/main" val="3254245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D44651-0904-A913-7D5A-071C2D1586E2}"/>
              </a:ext>
            </a:extLst>
          </p:cNvPr>
          <p:cNvSpPr>
            <a:spLocks noGrp="1"/>
          </p:cNvSpPr>
          <p:nvPr>
            <p:ph type="ctrTitle"/>
          </p:nvPr>
        </p:nvSpPr>
        <p:spPr>
          <a:xfrm>
            <a:off x="1451811" y="1427747"/>
            <a:ext cx="9216189" cy="3253290"/>
          </a:xfrm>
        </p:spPr>
        <p:txBody>
          <a:bodyPr>
            <a:noAutofit/>
          </a:bodyPr>
          <a:lstStyle/>
          <a:p>
            <a:br>
              <a:rPr lang="fr-FR" sz="3200" b="1" dirty="0"/>
            </a:br>
            <a:br>
              <a:rPr lang="fr-FR" sz="3200" b="1" dirty="0"/>
            </a:br>
            <a:br>
              <a:rPr lang="fr-FR" sz="3200" b="1" dirty="0"/>
            </a:br>
            <a:br>
              <a:rPr lang="fr-FR" sz="3200" b="1" dirty="0"/>
            </a:br>
            <a:br>
              <a:rPr lang="fr-FR" sz="3200" b="1" dirty="0"/>
            </a:br>
            <a:br>
              <a:rPr lang="fr-FR" sz="3200" b="1" dirty="0"/>
            </a:br>
            <a:r>
              <a:rPr lang="fr-FR" sz="3200" b="1" dirty="0"/>
              <a:t>Situation professionnelle – Épreuve E6</a:t>
            </a:r>
            <a:br>
              <a:rPr lang="fr-FR" sz="3200" dirty="0"/>
            </a:br>
            <a:r>
              <a:rPr lang="fr-FR" sz="3200" b="1" dirty="0"/>
              <a:t>BTS SIO – Option SISR</a:t>
            </a:r>
            <a:br>
              <a:rPr lang="fr-FR" sz="3200" dirty="0"/>
            </a:br>
            <a:r>
              <a:rPr lang="fr-FR" sz="3200" u="sng" dirty="0"/>
              <a:t>Intitulé de la situation </a:t>
            </a:r>
            <a:r>
              <a:rPr lang="fr-FR" sz="3200" dirty="0"/>
              <a:t>: Configuration et mise en service d’un switch réseau dans le nouveau local du SMUR</a:t>
            </a:r>
            <a:br>
              <a:rPr lang="fr-FR" sz="3200" dirty="0"/>
            </a:br>
            <a:endParaRPr lang="fr-FR" sz="3200" dirty="0"/>
          </a:p>
        </p:txBody>
      </p:sp>
    </p:spTree>
    <p:extLst>
      <p:ext uri="{BB962C8B-B14F-4D97-AF65-F5344CB8AC3E}">
        <p14:creationId xmlns:p14="http://schemas.microsoft.com/office/powerpoint/2010/main" val="1425755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0871AB-8319-FC86-C8C5-4ACE8C17B99A}"/>
              </a:ext>
            </a:extLst>
          </p:cNvPr>
          <p:cNvSpPr>
            <a:spLocks noGrp="1"/>
          </p:cNvSpPr>
          <p:nvPr>
            <p:ph type="title"/>
          </p:nvPr>
        </p:nvSpPr>
        <p:spPr/>
        <p:txBody>
          <a:bodyPr>
            <a:normAutofit/>
          </a:bodyPr>
          <a:lstStyle/>
          <a:p>
            <a:r>
              <a:rPr lang="fr-FR" sz="3600" b="1" dirty="0"/>
              <a:t>1. Contexte professionnel</a:t>
            </a:r>
            <a:br>
              <a:rPr lang="fr-FR" sz="3600" dirty="0"/>
            </a:br>
            <a:endParaRPr lang="fr-FR" sz="3600" dirty="0"/>
          </a:p>
        </p:txBody>
      </p:sp>
      <p:sp>
        <p:nvSpPr>
          <p:cNvPr id="3" name="Espace réservé du contenu 2">
            <a:extLst>
              <a:ext uri="{FF2B5EF4-FFF2-40B4-BE49-F238E27FC236}">
                <a16:creationId xmlns:a16="http://schemas.microsoft.com/office/drawing/2014/main" id="{607A9909-79CE-466D-4A74-0A347CF087FD}"/>
              </a:ext>
            </a:extLst>
          </p:cNvPr>
          <p:cNvSpPr>
            <a:spLocks noGrp="1"/>
          </p:cNvSpPr>
          <p:nvPr>
            <p:ph idx="1"/>
          </p:nvPr>
        </p:nvSpPr>
        <p:spPr/>
        <p:txBody>
          <a:bodyPr>
            <a:normAutofit/>
          </a:bodyPr>
          <a:lstStyle/>
          <a:p>
            <a:r>
              <a:rPr lang="fr-FR" dirty="0"/>
              <a:t>Lors de mon stage au service informatique de l’hôpital de Château-Gontier, le service SMUR a changé de local.</a:t>
            </a:r>
            <a:br>
              <a:rPr lang="fr-FR" dirty="0"/>
            </a:br>
            <a:r>
              <a:rPr lang="fr-FR" dirty="0"/>
              <a:t>Ce déménagement nécessitait l’installation d’un nouveau switch réseau afin de raccorder les équipements informatiques du service au réseau existant de l’hôpital.</a:t>
            </a:r>
          </a:p>
          <a:p>
            <a:r>
              <a:rPr lang="fr-FR" dirty="0"/>
              <a:t>Le switch fourni était neuf et non configuré. Afin d’éviter toute erreur de configuration et de garantir une cohérence avec l’infrastructure déjà en place, il a été décidé de reprendre la configuration d’un switch déjà utilisé et fonctionnel au sein de l’hôpital.</a:t>
            </a:r>
          </a:p>
          <a:p>
            <a:endParaRPr lang="fr-FR" sz="1800" dirty="0"/>
          </a:p>
        </p:txBody>
      </p:sp>
    </p:spTree>
    <p:extLst>
      <p:ext uri="{BB962C8B-B14F-4D97-AF65-F5344CB8AC3E}">
        <p14:creationId xmlns:p14="http://schemas.microsoft.com/office/powerpoint/2010/main" val="1119533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E54061-7C34-94FC-C786-973A24C963E4}"/>
              </a:ext>
            </a:extLst>
          </p:cNvPr>
          <p:cNvSpPr>
            <a:spLocks noGrp="1"/>
          </p:cNvSpPr>
          <p:nvPr>
            <p:ph type="title"/>
          </p:nvPr>
        </p:nvSpPr>
        <p:spPr/>
        <p:txBody>
          <a:bodyPr>
            <a:normAutofit/>
          </a:bodyPr>
          <a:lstStyle/>
          <a:p>
            <a:r>
              <a:rPr lang="fr-FR" sz="3600" b="1" dirty="0"/>
              <a:t>2. Problématique</a:t>
            </a:r>
          </a:p>
        </p:txBody>
      </p:sp>
      <p:sp>
        <p:nvSpPr>
          <p:cNvPr id="3" name="Espace réservé du contenu 2">
            <a:extLst>
              <a:ext uri="{FF2B5EF4-FFF2-40B4-BE49-F238E27FC236}">
                <a16:creationId xmlns:a16="http://schemas.microsoft.com/office/drawing/2014/main" id="{CF54372F-C989-958D-3AFC-108843CE719D}"/>
              </a:ext>
            </a:extLst>
          </p:cNvPr>
          <p:cNvSpPr>
            <a:spLocks noGrp="1"/>
          </p:cNvSpPr>
          <p:nvPr>
            <p:ph idx="1"/>
          </p:nvPr>
        </p:nvSpPr>
        <p:spPr/>
        <p:txBody>
          <a:bodyPr/>
          <a:lstStyle/>
          <a:p>
            <a:r>
              <a:rPr lang="fr-FR" dirty="0"/>
              <a:t>Comment configurer un switch réseau non paramétré et l’intégrer au backbone de l’hôpital, tout en respectant l’organisation existante du réseau et en assurant la continuité de service pour le SMUR ?</a:t>
            </a:r>
          </a:p>
          <a:p>
            <a:endParaRPr lang="fr-FR" dirty="0"/>
          </a:p>
        </p:txBody>
      </p:sp>
    </p:spTree>
    <p:extLst>
      <p:ext uri="{BB962C8B-B14F-4D97-AF65-F5344CB8AC3E}">
        <p14:creationId xmlns:p14="http://schemas.microsoft.com/office/powerpoint/2010/main" val="3780418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CA59B3-9305-8041-82F5-40AF2823D222}"/>
              </a:ext>
            </a:extLst>
          </p:cNvPr>
          <p:cNvSpPr>
            <a:spLocks noGrp="1"/>
          </p:cNvSpPr>
          <p:nvPr>
            <p:ph type="title"/>
          </p:nvPr>
        </p:nvSpPr>
        <p:spPr/>
        <p:txBody>
          <a:bodyPr>
            <a:normAutofit/>
          </a:bodyPr>
          <a:lstStyle/>
          <a:p>
            <a:r>
              <a:rPr lang="fr-FR" sz="3600" b="1" dirty="0"/>
              <a:t>3. Etapes de la mission+++</a:t>
            </a:r>
            <a:br>
              <a:rPr lang="fr-FR" sz="3600" dirty="0"/>
            </a:br>
            <a:endParaRPr lang="fr-FR" sz="3600" dirty="0"/>
          </a:p>
        </p:txBody>
      </p:sp>
      <p:sp>
        <p:nvSpPr>
          <p:cNvPr id="3" name="Espace réservé du contenu 2">
            <a:extLst>
              <a:ext uri="{FF2B5EF4-FFF2-40B4-BE49-F238E27FC236}">
                <a16:creationId xmlns:a16="http://schemas.microsoft.com/office/drawing/2014/main" id="{167EEB75-D3CB-A048-6A54-583ADAF167C9}"/>
              </a:ext>
            </a:extLst>
          </p:cNvPr>
          <p:cNvSpPr>
            <a:spLocks noGrp="1"/>
          </p:cNvSpPr>
          <p:nvPr>
            <p:ph idx="1"/>
          </p:nvPr>
        </p:nvSpPr>
        <p:spPr/>
        <p:txBody>
          <a:bodyPr/>
          <a:lstStyle/>
          <a:p>
            <a:pPr lvl="0"/>
            <a:r>
              <a:rPr lang="fr-FR" dirty="0"/>
              <a:t>Accéder au switch via une connexion console</a:t>
            </a:r>
          </a:p>
          <a:p>
            <a:pPr lvl="0"/>
            <a:r>
              <a:rPr lang="fr-FR" dirty="0"/>
              <a:t>Récupérer une configuration existante et fonctionnelle</a:t>
            </a:r>
          </a:p>
          <a:p>
            <a:pPr lvl="0"/>
            <a:r>
              <a:rPr lang="fr-FR" dirty="0"/>
              <a:t>Appliquer cette configuration sur le nouveau switch</a:t>
            </a:r>
          </a:p>
          <a:p>
            <a:pPr lvl="0"/>
            <a:r>
              <a:rPr lang="fr-FR" dirty="0"/>
              <a:t>Configurer les ports et les VLAN nécessaires</a:t>
            </a:r>
          </a:p>
          <a:p>
            <a:pPr lvl="0"/>
            <a:r>
              <a:rPr lang="fr-FR" dirty="0"/>
              <a:t>Tester le bon fonctionnement du switch avant mise en production</a:t>
            </a:r>
          </a:p>
          <a:p>
            <a:endParaRPr lang="fr-FR" dirty="0"/>
          </a:p>
        </p:txBody>
      </p:sp>
    </p:spTree>
    <p:extLst>
      <p:ext uri="{BB962C8B-B14F-4D97-AF65-F5344CB8AC3E}">
        <p14:creationId xmlns:p14="http://schemas.microsoft.com/office/powerpoint/2010/main" val="3022306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EBAAAB-066D-286B-292C-61804E8B7DE8}"/>
              </a:ext>
            </a:extLst>
          </p:cNvPr>
          <p:cNvSpPr>
            <a:spLocks noGrp="1"/>
          </p:cNvSpPr>
          <p:nvPr>
            <p:ph type="title"/>
          </p:nvPr>
        </p:nvSpPr>
        <p:spPr/>
        <p:txBody>
          <a:bodyPr>
            <a:normAutofit/>
          </a:bodyPr>
          <a:lstStyle/>
          <a:p>
            <a:r>
              <a:rPr lang="fr-FR" sz="3600" b="1" dirty="0"/>
              <a:t>4. Moyens matériels et logiciels</a:t>
            </a:r>
            <a:br>
              <a:rPr lang="fr-FR" sz="3600" dirty="0"/>
            </a:br>
            <a:endParaRPr lang="fr-FR" sz="3600" dirty="0"/>
          </a:p>
        </p:txBody>
      </p:sp>
      <p:sp>
        <p:nvSpPr>
          <p:cNvPr id="3" name="Espace réservé du contenu 2">
            <a:extLst>
              <a:ext uri="{FF2B5EF4-FFF2-40B4-BE49-F238E27FC236}">
                <a16:creationId xmlns:a16="http://schemas.microsoft.com/office/drawing/2014/main" id="{43384F2C-9DE1-4209-7F03-864E855DE1CD}"/>
              </a:ext>
            </a:extLst>
          </p:cNvPr>
          <p:cNvSpPr>
            <a:spLocks noGrp="1"/>
          </p:cNvSpPr>
          <p:nvPr>
            <p:ph idx="1"/>
          </p:nvPr>
        </p:nvSpPr>
        <p:spPr/>
        <p:txBody>
          <a:bodyPr/>
          <a:lstStyle/>
          <a:p>
            <a:pPr lvl="0"/>
            <a:r>
              <a:rPr lang="fr-FR" dirty="0"/>
              <a:t>Switch réseau HPE non configuré</a:t>
            </a:r>
          </a:p>
          <a:p>
            <a:pPr lvl="0"/>
            <a:r>
              <a:rPr lang="fr-FR" dirty="0"/>
              <a:t>Ordinateur portable d’administration</a:t>
            </a:r>
          </a:p>
          <a:p>
            <a:pPr lvl="0"/>
            <a:r>
              <a:rPr lang="fr-FR" dirty="0"/>
              <a:t>Câble console USB</a:t>
            </a:r>
          </a:p>
          <a:p>
            <a:pPr lvl="0"/>
            <a:r>
              <a:rPr lang="fr-FR" dirty="0"/>
              <a:t>Pilote USB du switch</a:t>
            </a:r>
          </a:p>
          <a:p>
            <a:pPr lvl="0"/>
            <a:r>
              <a:rPr lang="fr-FR" dirty="0"/>
              <a:t>Logiciel PuTTY</a:t>
            </a:r>
          </a:p>
          <a:p>
            <a:pPr lvl="0"/>
            <a:r>
              <a:rPr lang="fr-FR" dirty="0"/>
              <a:t>Fichier de configuration (CFG) d’un switch déjà en service</a:t>
            </a:r>
          </a:p>
          <a:p>
            <a:pPr lvl="0"/>
            <a:r>
              <a:rPr lang="fr-FR" dirty="0"/>
              <a:t>Câble RJ45</a:t>
            </a:r>
          </a:p>
          <a:p>
            <a:pPr lvl="0"/>
            <a:r>
              <a:rPr lang="fr-FR" dirty="0"/>
              <a:t>Câble de Fibre optique </a:t>
            </a:r>
          </a:p>
          <a:p>
            <a:endParaRPr lang="fr-FR" dirty="0"/>
          </a:p>
        </p:txBody>
      </p:sp>
    </p:spTree>
    <p:extLst>
      <p:ext uri="{BB962C8B-B14F-4D97-AF65-F5344CB8AC3E}">
        <p14:creationId xmlns:p14="http://schemas.microsoft.com/office/powerpoint/2010/main" val="892849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9037FE-6173-522D-EC7C-AFA44D33990E}"/>
              </a:ext>
            </a:extLst>
          </p:cNvPr>
          <p:cNvSpPr>
            <a:spLocks noGrp="1"/>
          </p:cNvSpPr>
          <p:nvPr>
            <p:ph type="title"/>
          </p:nvPr>
        </p:nvSpPr>
        <p:spPr/>
        <p:txBody>
          <a:bodyPr>
            <a:normAutofit/>
          </a:bodyPr>
          <a:lstStyle/>
          <a:p>
            <a:r>
              <a:rPr lang="fr-FR" sz="3600" b="1" dirty="0"/>
              <a:t>5. Réalisation de la mission</a:t>
            </a:r>
            <a:br>
              <a:rPr lang="fr-FR" sz="3600" dirty="0"/>
            </a:br>
            <a:r>
              <a:rPr lang="fr-FR" sz="3600" b="1" dirty="0"/>
              <a:t>5.1 Connexion au switch</a:t>
            </a:r>
            <a:endParaRPr lang="fr-FR" sz="3600" dirty="0"/>
          </a:p>
        </p:txBody>
      </p:sp>
      <p:sp>
        <p:nvSpPr>
          <p:cNvPr id="3" name="Espace réservé du contenu 2">
            <a:extLst>
              <a:ext uri="{FF2B5EF4-FFF2-40B4-BE49-F238E27FC236}">
                <a16:creationId xmlns:a16="http://schemas.microsoft.com/office/drawing/2014/main" id="{C7A1BEEE-7003-F3C8-CCB1-00D58AB2BEE8}"/>
              </a:ext>
            </a:extLst>
          </p:cNvPr>
          <p:cNvSpPr>
            <a:spLocks noGrp="1"/>
          </p:cNvSpPr>
          <p:nvPr>
            <p:ph idx="1"/>
          </p:nvPr>
        </p:nvSpPr>
        <p:spPr/>
        <p:txBody>
          <a:bodyPr/>
          <a:lstStyle/>
          <a:p>
            <a:r>
              <a:rPr lang="fr-FR" dirty="0"/>
              <a:t>Le switch a été relié à un ordinateur via son port console USB.</a:t>
            </a:r>
            <a:br>
              <a:rPr lang="fr-FR" dirty="0"/>
            </a:br>
            <a:r>
              <a:rPr lang="fr-FR" dirty="0"/>
              <a:t>Lors de la première tentative, le switch n’était pas reconnu par l’ordinateur. J’ai identifié que le pilote USB du switch n’était pas installé.</a:t>
            </a:r>
            <a:br>
              <a:rPr lang="fr-FR" dirty="0"/>
            </a:br>
            <a:r>
              <a:rPr lang="fr-FR" dirty="0"/>
              <a:t>Après recherche, téléchargement et installation du pilote adapté, le port est devenu accessible.</a:t>
            </a:r>
          </a:p>
          <a:p>
            <a:r>
              <a:rPr lang="fr-FR" dirty="0"/>
              <a:t>J’ai ensuite utilisé le logiciel PuTTY, configuré en mode connexion série, afin d’accéder à l’interface en ligne de commande du switch.</a:t>
            </a:r>
          </a:p>
          <a:p>
            <a:endParaRPr lang="fr-FR" dirty="0"/>
          </a:p>
        </p:txBody>
      </p:sp>
    </p:spTree>
    <p:extLst>
      <p:ext uri="{BB962C8B-B14F-4D97-AF65-F5344CB8AC3E}">
        <p14:creationId xmlns:p14="http://schemas.microsoft.com/office/powerpoint/2010/main" val="1793442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3D1B84-D98E-D937-F00F-6A419BCDE28D}"/>
              </a:ext>
            </a:extLst>
          </p:cNvPr>
          <p:cNvSpPr>
            <a:spLocks noGrp="1"/>
          </p:cNvSpPr>
          <p:nvPr>
            <p:ph type="title"/>
          </p:nvPr>
        </p:nvSpPr>
        <p:spPr/>
        <p:txBody>
          <a:bodyPr>
            <a:normAutofit/>
          </a:bodyPr>
          <a:lstStyle/>
          <a:p>
            <a:r>
              <a:rPr lang="fr-FR" sz="3200" b="1" dirty="0"/>
              <a:t>5.2 Récupération et application de la configuration</a:t>
            </a:r>
            <a:br>
              <a:rPr lang="fr-FR" sz="3200" dirty="0"/>
            </a:br>
            <a:endParaRPr lang="fr-FR" sz="3200" dirty="0"/>
          </a:p>
        </p:txBody>
      </p:sp>
      <p:sp>
        <p:nvSpPr>
          <p:cNvPr id="3" name="Espace réservé du contenu 2">
            <a:extLst>
              <a:ext uri="{FF2B5EF4-FFF2-40B4-BE49-F238E27FC236}">
                <a16:creationId xmlns:a16="http://schemas.microsoft.com/office/drawing/2014/main" id="{0D00294D-A0F4-0CD7-01D5-1230E2BB6AEA}"/>
              </a:ext>
            </a:extLst>
          </p:cNvPr>
          <p:cNvSpPr>
            <a:spLocks noGrp="1"/>
          </p:cNvSpPr>
          <p:nvPr>
            <p:ph idx="1"/>
          </p:nvPr>
        </p:nvSpPr>
        <p:spPr/>
        <p:txBody>
          <a:bodyPr/>
          <a:lstStyle/>
          <a:p>
            <a:r>
              <a:rPr lang="fr-FR" dirty="0"/>
              <a:t>Afin de garantir une configuration cohérente avec le réseau existant, j’ai récupéré le fichier de configuration (CFG) d’un switch déjà utilisé dans l’hôpital.</a:t>
            </a:r>
          </a:p>
          <a:p>
            <a:r>
              <a:rPr lang="fr-FR" dirty="0"/>
              <a:t>Une fois connecté au switch avec les droits administrateur (commande system-</a:t>
            </a:r>
            <a:r>
              <a:rPr lang="fr-FR" dirty="0" err="1"/>
              <a:t>view</a:t>
            </a:r>
            <a:r>
              <a:rPr lang="fr-FR" dirty="0"/>
              <a:t>), j’ai copié et appliqué cette configuration sur le nouveau matériel, puis effectué une sauvegarde de la configuration à l’aide de la commande </a:t>
            </a:r>
            <a:r>
              <a:rPr lang="fr-FR" dirty="0" err="1"/>
              <a:t>write</a:t>
            </a:r>
            <a:r>
              <a:rPr lang="fr-FR" dirty="0"/>
              <a:t> memory.</a:t>
            </a:r>
          </a:p>
          <a:p>
            <a:endParaRPr lang="fr-FR" dirty="0"/>
          </a:p>
        </p:txBody>
      </p:sp>
    </p:spTree>
    <p:extLst>
      <p:ext uri="{BB962C8B-B14F-4D97-AF65-F5344CB8AC3E}">
        <p14:creationId xmlns:p14="http://schemas.microsoft.com/office/powerpoint/2010/main" val="289749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EDAAEC-4B13-B591-BB6A-FFC47FA7072E}"/>
              </a:ext>
            </a:extLst>
          </p:cNvPr>
          <p:cNvSpPr>
            <a:spLocks noGrp="1"/>
          </p:cNvSpPr>
          <p:nvPr>
            <p:ph type="title"/>
          </p:nvPr>
        </p:nvSpPr>
        <p:spPr/>
        <p:txBody>
          <a:bodyPr>
            <a:normAutofit/>
          </a:bodyPr>
          <a:lstStyle/>
          <a:p>
            <a:r>
              <a:rPr lang="fr-FR" sz="3600" b="1" dirty="0"/>
              <a:t>5.3 Intégration au backbone</a:t>
            </a:r>
            <a:br>
              <a:rPr lang="fr-FR" sz="3600" dirty="0"/>
            </a:br>
            <a:endParaRPr lang="fr-FR" sz="3600" dirty="0"/>
          </a:p>
        </p:txBody>
      </p:sp>
      <p:sp>
        <p:nvSpPr>
          <p:cNvPr id="3" name="Espace réservé du contenu 2">
            <a:extLst>
              <a:ext uri="{FF2B5EF4-FFF2-40B4-BE49-F238E27FC236}">
                <a16:creationId xmlns:a16="http://schemas.microsoft.com/office/drawing/2014/main" id="{558BA03A-D90E-65AE-4315-A3491C4D8451}"/>
              </a:ext>
            </a:extLst>
          </p:cNvPr>
          <p:cNvSpPr>
            <a:spLocks noGrp="1"/>
          </p:cNvSpPr>
          <p:nvPr>
            <p:ph idx="1"/>
          </p:nvPr>
        </p:nvSpPr>
        <p:spPr>
          <a:xfrm>
            <a:off x="838200" y="1355558"/>
            <a:ext cx="10515600" cy="4821405"/>
          </a:xfrm>
        </p:spPr>
        <p:txBody>
          <a:bodyPr>
            <a:normAutofit fontScale="85000" lnSpcReduction="20000"/>
          </a:bodyPr>
          <a:lstStyle/>
          <a:p>
            <a:r>
              <a:rPr lang="fr-FR" dirty="0"/>
              <a:t>Je me suis ensuite rendu au backbone avec le switch et l’ordinateur portable.</a:t>
            </a:r>
            <a:br>
              <a:rPr lang="fr-FR" dirty="0"/>
            </a:br>
            <a:r>
              <a:rPr lang="fr-FR" dirty="0"/>
              <a:t>Le switch a été relié à l’ordinateur via un câble RJ45 et connecté au backbone de l’hôpital via un câble fibre optique (port 25).</a:t>
            </a:r>
          </a:p>
          <a:p>
            <a:r>
              <a:rPr lang="fr-FR" dirty="0"/>
              <a:t>Sur l’ordinateur, j’ai configuré une adresse IP statique dans la même plage réseau que le switch afin de pouvoir accéder à son interface de gestion en local.</a:t>
            </a:r>
          </a:p>
          <a:p>
            <a:r>
              <a:rPr lang="fr-FR" dirty="0"/>
              <a:t>L’accès au switch était possible en local car l’interface de gestion est accessible dès lors que le poste d’administration possède une adresse IP dans la même plage réseau que le switch. Une connexion Internet n’était donc pas nécessaire.</a:t>
            </a:r>
          </a:p>
          <a:p>
            <a:r>
              <a:rPr lang="fr-FR" dirty="0"/>
              <a:t>Le port 25, utilisé pour la liaison fibre, a été configuré pour autoriser le passage des VLAN nécessaires : VLAN 1, 2, 4, 6 et 46.</a:t>
            </a:r>
          </a:p>
          <a:p>
            <a:r>
              <a:rPr lang="fr-FR" dirty="0"/>
              <a:t>Ce port a été configuré en mode </a:t>
            </a:r>
            <a:r>
              <a:rPr lang="fr-FR" dirty="0" err="1"/>
              <a:t>trunk</a:t>
            </a:r>
            <a:r>
              <a:rPr lang="fr-FR" dirty="0"/>
              <a:t> (protocole 802.1Q)  afin de transporter plusieurs VLAN entre le backbone et le switch.</a:t>
            </a:r>
          </a:p>
          <a:p>
            <a:r>
              <a:rPr lang="fr-FR" dirty="0"/>
              <a:t>Le fait d’autoriser uniquement certains VLAN sur ce port permet de contrôler les flux réseau et de respecter l’organisation de l’infrastructure existante.</a:t>
            </a:r>
          </a:p>
          <a:p>
            <a:endParaRPr lang="fr-FR" dirty="0"/>
          </a:p>
        </p:txBody>
      </p:sp>
    </p:spTree>
    <p:extLst>
      <p:ext uri="{BB962C8B-B14F-4D97-AF65-F5344CB8AC3E}">
        <p14:creationId xmlns:p14="http://schemas.microsoft.com/office/powerpoint/2010/main" val="2971116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474FEF-784C-0957-8257-C5955E295ED0}"/>
              </a:ext>
            </a:extLst>
          </p:cNvPr>
          <p:cNvSpPr>
            <a:spLocks noGrp="1"/>
          </p:cNvSpPr>
          <p:nvPr>
            <p:ph type="title"/>
          </p:nvPr>
        </p:nvSpPr>
        <p:spPr/>
        <p:txBody>
          <a:bodyPr>
            <a:normAutofit/>
          </a:bodyPr>
          <a:lstStyle/>
          <a:p>
            <a:r>
              <a:rPr lang="fr-FR" sz="3600" b="1" dirty="0"/>
              <a:t>5.4 Incident rencontré et correction</a:t>
            </a:r>
            <a:br>
              <a:rPr lang="fr-FR" sz="3600" dirty="0"/>
            </a:br>
            <a:endParaRPr lang="fr-FR" sz="3600" dirty="0"/>
          </a:p>
        </p:txBody>
      </p:sp>
      <p:sp>
        <p:nvSpPr>
          <p:cNvPr id="3" name="Espace réservé du contenu 2">
            <a:extLst>
              <a:ext uri="{FF2B5EF4-FFF2-40B4-BE49-F238E27FC236}">
                <a16:creationId xmlns:a16="http://schemas.microsoft.com/office/drawing/2014/main" id="{B940F217-604E-165F-76BD-386DC430903E}"/>
              </a:ext>
            </a:extLst>
          </p:cNvPr>
          <p:cNvSpPr>
            <a:spLocks noGrp="1"/>
          </p:cNvSpPr>
          <p:nvPr>
            <p:ph idx="1"/>
          </p:nvPr>
        </p:nvSpPr>
        <p:spPr/>
        <p:txBody>
          <a:bodyPr>
            <a:normAutofit fontScale="62500" lnSpcReduction="20000"/>
          </a:bodyPr>
          <a:lstStyle/>
          <a:p>
            <a:r>
              <a:rPr lang="fr-FR" dirty="0"/>
              <a:t>Lors de l’installation du switch dans le nouveau local du SMUR, le réseau ne fonctionnait pas correctement.</a:t>
            </a:r>
          </a:p>
          <a:p>
            <a:r>
              <a:rPr lang="fr-FR" dirty="0"/>
              <a:t>Comme je ne voyais pas d’où venait le problème, je suis retournée au backbone pour faire d’autres tests.</a:t>
            </a:r>
            <a:br>
              <a:rPr lang="fr-FR" dirty="0"/>
            </a:br>
            <a:r>
              <a:rPr lang="fr-FR" dirty="0"/>
              <a:t>Après analyse, j’ai constaté que la configuration du port 25 n’avait pas été sauvegardée correctement. Les VLAN autorisés n’étaient donc pas reconnus après le redémarrage du switch.</a:t>
            </a:r>
          </a:p>
          <a:p>
            <a:r>
              <a:rPr lang="fr-FR" dirty="0"/>
              <a:t>Le port fibre étant un port </a:t>
            </a:r>
            <a:r>
              <a:rPr lang="fr-FR" dirty="0" err="1"/>
              <a:t>trunk</a:t>
            </a:r>
            <a:r>
              <a:rPr lang="fr-FR" dirty="0"/>
              <a:t> transportant plusieurs VLAN, l’absence de cette configuration empêchait la réception du trafic réseau provenant du backbone, ce qui bloquait la connectivité réseau.</a:t>
            </a:r>
          </a:p>
          <a:p>
            <a:r>
              <a:rPr lang="fr-FR" dirty="0"/>
              <a:t>J’ai donc :</a:t>
            </a:r>
          </a:p>
          <a:p>
            <a:pPr lvl="1"/>
            <a:r>
              <a:rPr lang="fr-FR" dirty="0"/>
              <a:t>Reconfiguré le port 25,</a:t>
            </a:r>
          </a:p>
          <a:p>
            <a:pPr lvl="1"/>
            <a:r>
              <a:rPr lang="fr-FR" dirty="0"/>
              <a:t>Autoriser à nouveau les VLAN nécessaires,</a:t>
            </a:r>
          </a:p>
          <a:p>
            <a:pPr lvl="1"/>
            <a:r>
              <a:rPr lang="fr-FR" dirty="0"/>
              <a:t>Sauvegarder correctement la configuration.</a:t>
            </a:r>
          </a:p>
          <a:p>
            <a:pPr lvl="0"/>
            <a:endParaRPr lang="fr-FR" dirty="0"/>
          </a:p>
          <a:p>
            <a:r>
              <a:rPr lang="fr-FR" dirty="0"/>
              <a:t>Après cette correction, le switch a été réinstallé dans le local du SMUR.</a:t>
            </a:r>
          </a:p>
          <a:p>
            <a:r>
              <a:rPr lang="fr-FR" dirty="0"/>
              <a:t>Cet incident m’a permis de comprendre l’importance de la sauvegarde de la configuration et du rôle essentiel des ports </a:t>
            </a:r>
            <a:r>
              <a:rPr lang="fr-FR" dirty="0" err="1"/>
              <a:t>trunk</a:t>
            </a:r>
            <a:r>
              <a:rPr lang="fr-FR" dirty="0"/>
              <a:t> dans la connectivité réseau du switch.</a:t>
            </a:r>
          </a:p>
          <a:p>
            <a:endParaRPr lang="fr-FR" dirty="0"/>
          </a:p>
        </p:txBody>
      </p:sp>
    </p:spTree>
    <p:extLst>
      <p:ext uri="{BB962C8B-B14F-4D97-AF65-F5344CB8AC3E}">
        <p14:creationId xmlns:p14="http://schemas.microsoft.com/office/powerpoint/2010/main" val="2488264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1ECB6E-E5F7-2C9C-9F80-91C5113A98A4}"/>
              </a:ext>
            </a:extLst>
          </p:cNvPr>
          <p:cNvSpPr>
            <a:spLocks noGrp="1"/>
          </p:cNvSpPr>
          <p:nvPr>
            <p:ph type="title"/>
          </p:nvPr>
        </p:nvSpPr>
        <p:spPr/>
        <p:txBody>
          <a:bodyPr>
            <a:normAutofit/>
          </a:bodyPr>
          <a:lstStyle/>
          <a:p>
            <a:r>
              <a:rPr lang="fr-FR" sz="3600" b="1" dirty="0"/>
              <a:t>5.5 Configuration des ports utilisateurs</a:t>
            </a:r>
            <a:br>
              <a:rPr lang="fr-FR" sz="3600" dirty="0"/>
            </a:br>
            <a:endParaRPr lang="fr-FR" sz="3600" dirty="0"/>
          </a:p>
        </p:txBody>
      </p:sp>
      <p:sp>
        <p:nvSpPr>
          <p:cNvPr id="3" name="Espace réservé du contenu 2">
            <a:extLst>
              <a:ext uri="{FF2B5EF4-FFF2-40B4-BE49-F238E27FC236}">
                <a16:creationId xmlns:a16="http://schemas.microsoft.com/office/drawing/2014/main" id="{FC8DA5F0-DF0C-0AB7-A69B-B782918A0165}"/>
              </a:ext>
            </a:extLst>
          </p:cNvPr>
          <p:cNvSpPr>
            <a:spLocks noGrp="1"/>
          </p:cNvSpPr>
          <p:nvPr>
            <p:ph idx="1"/>
          </p:nvPr>
        </p:nvSpPr>
        <p:spPr/>
        <p:txBody>
          <a:bodyPr>
            <a:normAutofit fontScale="92500" lnSpcReduction="20000"/>
          </a:bodyPr>
          <a:lstStyle/>
          <a:p>
            <a:r>
              <a:rPr lang="fr-FR" dirty="0"/>
              <a:t>Les ports utilisateurs ont été configurés en mode </a:t>
            </a:r>
            <a:r>
              <a:rPr lang="fr-FR" dirty="0" err="1"/>
              <a:t>access</a:t>
            </a:r>
            <a:r>
              <a:rPr lang="fr-FR" dirty="0"/>
              <a:t> afin d’associer chaque poste à un seul VLAN, contrairement au port fibre configuré en </a:t>
            </a:r>
            <a:r>
              <a:rPr lang="fr-FR" dirty="0" err="1"/>
              <a:t>trunk</a:t>
            </a:r>
            <a:r>
              <a:rPr lang="fr-FR" dirty="0"/>
              <a:t>.</a:t>
            </a:r>
          </a:p>
          <a:p>
            <a:r>
              <a:rPr lang="fr-FR" dirty="0"/>
              <a:t>Les ports du switch ont été configurés en fonction des besoins du service :</a:t>
            </a:r>
          </a:p>
          <a:p>
            <a:pPr lvl="0"/>
            <a:r>
              <a:rPr lang="fr-FR" dirty="0"/>
              <a:t>Port 1 : VLAN 1 (administration)</a:t>
            </a:r>
          </a:p>
          <a:p>
            <a:pPr lvl="0"/>
            <a:r>
              <a:rPr lang="fr-FR" dirty="0"/>
              <a:t>Ports 2 et 3 : VLAN 6</a:t>
            </a:r>
          </a:p>
          <a:p>
            <a:pPr lvl="0"/>
            <a:r>
              <a:rPr lang="fr-FR" dirty="0"/>
              <a:t>Port 4 : VLAN 2</a:t>
            </a:r>
          </a:p>
          <a:p>
            <a:pPr lvl="0"/>
            <a:r>
              <a:rPr lang="fr-FR" dirty="0"/>
              <a:t>Port 5 : VLAN 4</a:t>
            </a:r>
          </a:p>
          <a:p>
            <a:pPr lvl="0"/>
            <a:r>
              <a:rPr lang="fr-FR" dirty="0"/>
              <a:t>Ports 6, 7 et 8 : VLAN 46</a:t>
            </a:r>
          </a:p>
          <a:p>
            <a:r>
              <a:rPr lang="fr-FR" dirty="0"/>
              <a:t>Les ports correspondants ont été brassés dans la baie de brassage au SMUR.</a:t>
            </a:r>
          </a:p>
          <a:p>
            <a:endParaRPr lang="fr-FR" dirty="0"/>
          </a:p>
        </p:txBody>
      </p:sp>
    </p:spTree>
    <p:extLst>
      <p:ext uri="{BB962C8B-B14F-4D97-AF65-F5344CB8AC3E}">
        <p14:creationId xmlns:p14="http://schemas.microsoft.com/office/powerpoint/2010/main" val="223222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CD49A7-62AB-6DF3-00C2-94499B51D1A0}"/>
              </a:ext>
            </a:extLst>
          </p:cNvPr>
          <p:cNvSpPr>
            <a:spLocks noGrp="1"/>
          </p:cNvSpPr>
          <p:nvPr>
            <p:ph type="title"/>
          </p:nvPr>
        </p:nvSpPr>
        <p:spPr/>
        <p:txBody>
          <a:bodyPr>
            <a:normAutofit/>
          </a:bodyPr>
          <a:lstStyle/>
          <a:p>
            <a:r>
              <a:rPr lang="fr-FR" sz="3600" b="1" dirty="0"/>
              <a:t>6. Tests et validation</a:t>
            </a:r>
            <a:br>
              <a:rPr lang="fr-FR" sz="3600" dirty="0"/>
            </a:br>
            <a:endParaRPr lang="fr-FR" sz="3600" dirty="0"/>
          </a:p>
        </p:txBody>
      </p:sp>
      <p:sp>
        <p:nvSpPr>
          <p:cNvPr id="3" name="Espace réservé du contenu 2">
            <a:extLst>
              <a:ext uri="{FF2B5EF4-FFF2-40B4-BE49-F238E27FC236}">
                <a16:creationId xmlns:a16="http://schemas.microsoft.com/office/drawing/2014/main" id="{695022BF-0585-B557-D10A-3933504C9F5C}"/>
              </a:ext>
            </a:extLst>
          </p:cNvPr>
          <p:cNvSpPr>
            <a:spLocks noGrp="1"/>
          </p:cNvSpPr>
          <p:nvPr>
            <p:ph idx="1"/>
          </p:nvPr>
        </p:nvSpPr>
        <p:spPr/>
        <p:txBody>
          <a:bodyPr/>
          <a:lstStyle/>
          <a:p>
            <a:pPr lvl="0"/>
            <a:r>
              <a:rPr lang="fr-FR" dirty="0"/>
              <a:t>Test de connexion directe entre un ordinateur et le switch</a:t>
            </a:r>
          </a:p>
          <a:p>
            <a:pPr lvl="0"/>
            <a:r>
              <a:rPr lang="fr-FR" dirty="0"/>
              <a:t>Vérification de l’accès réseau sur chaque prise RJ45 murale</a:t>
            </a:r>
          </a:p>
          <a:p>
            <a:pPr lvl="0"/>
            <a:r>
              <a:rPr lang="fr-FR" dirty="0"/>
              <a:t>Validation du fonctionnement du switch et de la connectivité réseau</a:t>
            </a:r>
          </a:p>
          <a:p>
            <a:pPr lvl="0"/>
            <a:endParaRPr lang="fr-FR" dirty="0"/>
          </a:p>
          <a:p>
            <a:r>
              <a:rPr lang="fr-FR" dirty="0"/>
              <a:t>Tous les tests se sont révélés concluants : l’ensemble des prises murales fournissaient une connexion réseau fonctionnelle.</a:t>
            </a:r>
          </a:p>
        </p:txBody>
      </p:sp>
    </p:spTree>
    <p:extLst>
      <p:ext uri="{BB962C8B-B14F-4D97-AF65-F5344CB8AC3E}">
        <p14:creationId xmlns:p14="http://schemas.microsoft.com/office/powerpoint/2010/main" val="663736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D70712-7C60-E17B-F739-8FA0E5546BB2}"/>
              </a:ext>
            </a:extLst>
          </p:cNvPr>
          <p:cNvSpPr>
            <a:spLocks noGrp="1"/>
          </p:cNvSpPr>
          <p:nvPr>
            <p:ph type="title"/>
          </p:nvPr>
        </p:nvSpPr>
        <p:spPr/>
        <p:txBody>
          <a:bodyPr>
            <a:normAutofit/>
          </a:bodyPr>
          <a:lstStyle/>
          <a:p>
            <a:r>
              <a:rPr lang="fr-FR" sz="3600" b="1" dirty="0"/>
              <a:t>7. Résultats obtenus</a:t>
            </a:r>
            <a:br>
              <a:rPr lang="fr-FR" sz="3600" dirty="0"/>
            </a:br>
            <a:endParaRPr lang="fr-FR" sz="3600" dirty="0"/>
          </a:p>
        </p:txBody>
      </p:sp>
      <p:sp>
        <p:nvSpPr>
          <p:cNvPr id="3" name="Espace réservé du contenu 2">
            <a:extLst>
              <a:ext uri="{FF2B5EF4-FFF2-40B4-BE49-F238E27FC236}">
                <a16:creationId xmlns:a16="http://schemas.microsoft.com/office/drawing/2014/main" id="{E6E0E310-C686-E2CC-FCB6-F0E0DC3FE4D2}"/>
              </a:ext>
            </a:extLst>
          </p:cNvPr>
          <p:cNvSpPr>
            <a:spLocks noGrp="1"/>
          </p:cNvSpPr>
          <p:nvPr>
            <p:ph idx="1"/>
          </p:nvPr>
        </p:nvSpPr>
        <p:spPr/>
        <p:txBody>
          <a:bodyPr/>
          <a:lstStyle/>
          <a:p>
            <a:pPr lvl="0"/>
            <a:r>
              <a:rPr lang="fr-FR" dirty="0"/>
              <a:t>Switch correctement configuré et intégré au réseau</a:t>
            </a:r>
          </a:p>
          <a:p>
            <a:pPr lvl="0"/>
            <a:r>
              <a:rPr lang="fr-FR" dirty="0"/>
              <a:t>Respect de l’architecture réseau existante</a:t>
            </a:r>
          </a:p>
          <a:p>
            <a:pPr lvl="0"/>
            <a:r>
              <a:rPr lang="fr-FR" dirty="0"/>
              <a:t>Continuité de service assurée pour le SMUR</a:t>
            </a:r>
          </a:p>
          <a:p>
            <a:pPr lvl="0"/>
            <a:r>
              <a:rPr lang="fr-FR" dirty="0"/>
              <a:t>Infrastructure opérationnelle dans le nouveau local</a:t>
            </a:r>
          </a:p>
          <a:p>
            <a:endParaRPr lang="fr-FR" dirty="0"/>
          </a:p>
        </p:txBody>
      </p:sp>
    </p:spTree>
    <p:extLst>
      <p:ext uri="{BB962C8B-B14F-4D97-AF65-F5344CB8AC3E}">
        <p14:creationId xmlns:p14="http://schemas.microsoft.com/office/powerpoint/2010/main" val="1895737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5491FE-5628-588B-B9E8-1F9698CA8D77}"/>
              </a:ext>
            </a:extLst>
          </p:cNvPr>
          <p:cNvSpPr>
            <a:spLocks noGrp="1"/>
          </p:cNvSpPr>
          <p:nvPr>
            <p:ph type="title"/>
          </p:nvPr>
        </p:nvSpPr>
        <p:spPr/>
        <p:txBody>
          <a:bodyPr>
            <a:normAutofit/>
          </a:bodyPr>
          <a:lstStyle/>
          <a:p>
            <a:r>
              <a:rPr lang="fr-FR" sz="3600" b="1" dirty="0"/>
              <a:t>8. Bilan personnel</a:t>
            </a:r>
            <a:br>
              <a:rPr lang="fr-FR" sz="3600" dirty="0"/>
            </a:br>
            <a:endParaRPr lang="fr-FR" sz="3600" dirty="0"/>
          </a:p>
        </p:txBody>
      </p:sp>
      <p:sp>
        <p:nvSpPr>
          <p:cNvPr id="3" name="Espace réservé du contenu 2">
            <a:extLst>
              <a:ext uri="{FF2B5EF4-FFF2-40B4-BE49-F238E27FC236}">
                <a16:creationId xmlns:a16="http://schemas.microsoft.com/office/drawing/2014/main" id="{03DFEBD6-51FA-4DAF-0EC5-AEBAE558A42C}"/>
              </a:ext>
            </a:extLst>
          </p:cNvPr>
          <p:cNvSpPr>
            <a:spLocks noGrp="1"/>
          </p:cNvSpPr>
          <p:nvPr>
            <p:ph idx="1"/>
          </p:nvPr>
        </p:nvSpPr>
        <p:spPr/>
        <p:txBody>
          <a:bodyPr/>
          <a:lstStyle/>
          <a:p>
            <a:r>
              <a:rPr lang="fr-FR" dirty="0"/>
              <a:t>Cette mission m’a permis de renforcer mes compétences en administration réseau, notamment sur la configuration de </a:t>
            </a:r>
            <a:r>
              <a:rPr lang="fr-FR" dirty="0" err="1"/>
              <a:t>switchs</a:t>
            </a:r>
            <a:r>
              <a:rPr lang="fr-FR" dirty="0"/>
              <a:t>, la gestion des VLAN et l’intégration d’équipements au backbone.</a:t>
            </a:r>
            <a:br>
              <a:rPr lang="fr-FR" dirty="0"/>
            </a:br>
            <a:r>
              <a:rPr lang="fr-FR" dirty="0"/>
              <a:t>L’incident rencontré m’a également sensibilisée à l’importance de la sauvegarde des configurations, indispensable pour garantir la fiabilité et la continuité de service, en particulier dans un environnement hospitalier critique.</a:t>
            </a:r>
          </a:p>
          <a:p>
            <a:endParaRPr lang="fr-FR" dirty="0"/>
          </a:p>
        </p:txBody>
      </p:sp>
    </p:spTree>
    <p:extLst>
      <p:ext uri="{BB962C8B-B14F-4D97-AF65-F5344CB8AC3E}">
        <p14:creationId xmlns:p14="http://schemas.microsoft.com/office/powerpoint/2010/main" val="717886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49CC8-B91B-06B4-E10A-4BA3A174E048}"/>
              </a:ext>
            </a:extLst>
          </p:cNvPr>
          <p:cNvSpPr>
            <a:spLocks noGrp="1"/>
          </p:cNvSpPr>
          <p:nvPr>
            <p:ph type="title"/>
          </p:nvPr>
        </p:nvSpPr>
        <p:spPr/>
        <p:txBody>
          <a:bodyPr>
            <a:normAutofit/>
          </a:bodyPr>
          <a:lstStyle/>
          <a:p>
            <a:r>
              <a:rPr lang="fr-FR" sz="3600" b="1" dirty="0"/>
              <a:t>9. Compétences BTS SIO SISR mobilisées</a:t>
            </a:r>
            <a:br>
              <a:rPr lang="fr-FR" sz="3600" dirty="0"/>
            </a:br>
            <a:endParaRPr lang="fr-FR" sz="3600" dirty="0"/>
          </a:p>
        </p:txBody>
      </p:sp>
      <p:sp>
        <p:nvSpPr>
          <p:cNvPr id="3" name="Espace réservé du contenu 2">
            <a:extLst>
              <a:ext uri="{FF2B5EF4-FFF2-40B4-BE49-F238E27FC236}">
                <a16:creationId xmlns:a16="http://schemas.microsoft.com/office/drawing/2014/main" id="{697D2291-2F40-BFA0-9A4C-D32224FB78A9}"/>
              </a:ext>
            </a:extLst>
          </p:cNvPr>
          <p:cNvSpPr>
            <a:spLocks noGrp="1"/>
          </p:cNvSpPr>
          <p:nvPr>
            <p:ph idx="1"/>
          </p:nvPr>
        </p:nvSpPr>
        <p:spPr/>
        <p:txBody>
          <a:bodyPr/>
          <a:lstStyle/>
          <a:p>
            <a:pPr lvl="0"/>
            <a:r>
              <a:rPr lang="fr-FR" dirty="0"/>
              <a:t>Administrer des systèmes et des réseaux</a:t>
            </a:r>
          </a:p>
          <a:p>
            <a:pPr lvl="0"/>
            <a:r>
              <a:rPr lang="fr-FR" dirty="0"/>
              <a:t>Maintenir une infrastructure réseau</a:t>
            </a:r>
          </a:p>
          <a:p>
            <a:pPr lvl="0"/>
            <a:r>
              <a:rPr lang="fr-FR" dirty="0"/>
              <a:t>Gérer le patrimoine informatique</a:t>
            </a:r>
          </a:p>
          <a:p>
            <a:pPr lvl="0"/>
            <a:r>
              <a:rPr lang="fr-FR" dirty="0"/>
              <a:t>Intervenir lors d’une évolution d’infrastructure</a:t>
            </a:r>
          </a:p>
          <a:p>
            <a:endParaRPr lang="fr-FR" dirty="0"/>
          </a:p>
        </p:txBody>
      </p:sp>
    </p:spTree>
    <p:extLst>
      <p:ext uri="{BB962C8B-B14F-4D97-AF65-F5344CB8AC3E}">
        <p14:creationId xmlns:p14="http://schemas.microsoft.com/office/powerpoint/2010/main" val="152131274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1055</Words>
  <Application>Microsoft Office PowerPoint</Application>
  <PresentationFormat>Grand écran</PresentationFormat>
  <Paragraphs>73</Paragraphs>
  <Slides>14</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Calibri</vt:lpstr>
      <vt:lpstr>Calibri Light</vt:lpstr>
      <vt:lpstr>Thème Office</vt:lpstr>
      <vt:lpstr>      Situation professionnelle – Épreuve E6 BTS SIO – Option SISR Intitulé de la situation : Configuration et mise en service d’un switch réseau dans le nouveau local du SMUR </vt:lpstr>
      <vt:lpstr>1. Contexte professionnel </vt:lpstr>
      <vt:lpstr>2. Problématique</vt:lpstr>
      <vt:lpstr>3. Etapes de la mission+++ </vt:lpstr>
      <vt:lpstr>4. Moyens matériels et logiciels </vt:lpstr>
      <vt:lpstr>5. Réalisation de la mission 5.1 Connexion au switch</vt:lpstr>
      <vt:lpstr>5.2 Récupération et application de la configuration </vt:lpstr>
      <vt:lpstr>5.3 Intégration au backbone </vt:lpstr>
      <vt:lpstr>5.4 Incident rencontré et correction </vt:lpstr>
      <vt:lpstr>5.5 Configuration des ports utilisateurs </vt:lpstr>
      <vt:lpstr>6. Tests et validation </vt:lpstr>
      <vt:lpstr>7. Résultats obtenus </vt:lpstr>
      <vt:lpstr>8. Bilan personnel </vt:lpstr>
      <vt:lpstr>9. Compétences BTS SIO SISR mobilisées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Osama EL SALHY</dc:creator>
  <cp:lastModifiedBy>Osama EL SALHY</cp:lastModifiedBy>
  <cp:revision>5</cp:revision>
  <dcterms:created xsi:type="dcterms:W3CDTF">2026-04-14T11:06:17Z</dcterms:created>
  <dcterms:modified xsi:type="dcterms:W3CDTF">2026-04-14T11:26:02Z</dcterms:modified>
</cp:coreProperties>
</file>